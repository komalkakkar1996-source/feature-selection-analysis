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D1B2A"/>
                </a:solidFill>
                <a:latin typeface="Arial"/>
              </a:rPr>
              <a:t>RFECV: R² vs Number of Features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R²</c:v>
                </c:pt>
              </c:strCache>
            </c:strRef>
          </c:tx>
          <c:spPr>
            <a:solidFill>
              <a:srgbClr val="0891B2"/>
            </a:solidFill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0.043</c:v>
                </c:pt>
                <c:pt idx="1">
                  <c:v>0.612</c:v>
                </c:pt>
                <c:pt idx="2">
                  <c:v>0.633</c:v>
                </c:pt>
                <c:pt idx="3">
                  <c:v>0.642</c:v>
                </c:pt>
                <c:pt idx="4">
                  <c:v>0.651</c:v>
                </c:pt>
                <c:pt idx="5">
                  <c:v>0.661</c:v>
                </c:pt>
                <c:pt idx="6">
                  <c:v>0.669</c:v>
                </c:pt>
                <c:pt idx="7">
                  <c:v>0.674</c:v>
                </c:pt>
                <c:pt idx="8">
                  <c:v>0.68</c:v>
                </c:pt>
                <c:pt idx="9">
                  <c:v>0.697</c:v>
                </c:pt>
                <c:pt idx="10">
                  <c:v>0.779</c:v>
                </c:pt>
                <c:pt idx="11">
                  <c:v>0.779</c:v>
                </c:pt>
                <c:pt idx="12">
                  <c:v>0.779</c:v>
                </c:pt>
                <c:pt idx="13">
                  <c:v>0.779</c:v>
                </c:pt>
                <c:pt idx="14">
                  <c:v>0.779</c:v>
                </c:pt>
                <c:pt idx="15">
                  <c:v>0.779</c:v>
                </c:pt>
                <c:pt idx="16">
                  <c:v>0.779</c:v>
                </c:pt>
                <c:pt idx="17">
                  <c:v>0.779</c:v>
                </c:pt>
                <c:pt idx="18">
                  <c:v>0.779</c:v>
                </c:pt>
                <c:pt idx="19">
                  <c:v>0.779</c:v>
                </c:pt>
                <c:pt idx="20">
                  <c:v>0.779</c:v>
                </c:pt>
                <c:pt idx="21">
                  <c:v>0.779</c:v>
                </c:pt>
                <c:pt idx="22">
                  <c:v>0.779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D1B2A"/>
                </a:solidFill>
                <a:latin typeface="Arial"/>
              </a:rPr>
              <a:t>Feature Selected By N Methods (out of 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Methods Selected By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facility_rating_low</c:v>
                  </c:pt>
                  <c:pt idx="1">
                    <c:v>sleep_quality_poor</c:v>
                  </c:pt>
                  <c:pt idx="2">
                    <c:v>sleep_quality_good</c:v>
                  </c:pt>
                  <c:pt idx="3">
                    <c:v>sleep_hours</c:v>
                  </c:pt>
                  <c:pt idx="4">
                    <c:v>class_attendance</c:v>
                  </c:pt>
                  <c:pt idx="5">
                    <c:v>study_hours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  <c:pt idx="4">
                  <c:v>7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Exam Performance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39572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651760"/>
            <a:ext cx="19202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724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364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651760"/>
            <a:ext cx="19202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724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3364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19202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724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Applied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651760"/>
            <a:ext cx="19202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7249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3364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Reduced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Kakkar  |  Python · Scikit-learn · Pandas ·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dataset of 630,000 students (13 columns), identify which features truly drive exam_score — and prove it mathematically — while discarding redundant noise.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1920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benchmark 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291840"/>
            <a:ext cx="228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057400"/>
            <a:ext cx="1920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scientifically found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291840"/>
            <a:ext cx="228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057400"/>
            <a:ext cx="1920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Methods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Wrapper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validated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291840"/>
            <a:ext cx="228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20574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2057400"/>
            <a:ext cx="1920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30632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R² · Less noise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Quality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 (13 columns)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397764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study_hours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</a:rPr>
                        <a:t>⭐ Key 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class_attendance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sleep_hours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gender / course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sleep_quality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study_method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facility_rating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exam_difficulty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internet_access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exam_score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</a:rPr>
                        <a:t>🎯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89611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Missing Values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Duplicate Rows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23760" y="1801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Outliers (Boxplot)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23760" y="2185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detected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7889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3246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 column (non-predictive)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7 categorical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to avoid multicollinearity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13 raw → 23 encoded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(random_state=42)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— Before Feature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baseline first?  →  We need a benchmark R² to prove feature selection worked. Without this, we have nothing to compare against.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5029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Snippet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test_size=0.2,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random_state=42)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model_baseline = LinearRegression()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model_baseline.fit(X_train, y_train)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 = r2_score(y_test, y_pred)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sqrt(mean_squared_error(...))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719072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8105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719072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18105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3591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953512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RMSE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953512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3593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895344"/>
            <a:ext cx="32004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Fit — No Overfitting Detected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206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≈ Test R²  →  Difference &lt; 0.05  →  Model generalizes well to unseen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— Finding Optimal Features Scientifically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335024"/>
            <a:ext cx="2194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914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48256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weakest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1335024"/>
            <a:ext cx="2194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914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0752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93792" y="1335024"/>
            <a:ext cx="2194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914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13248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13248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76288" y="1335024"/>
            <a:ext cx="219456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9144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95744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95744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peak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count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5760" y="19659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989320" y="1965960"/>
            <a:ext cx="2788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9320" y="1965960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2002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Zone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2648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10  ·  R² grows rapidly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89320" y="2670048"/>
            <a:ext cx="2788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89320" y="2670048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2706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Zone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29626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17  ·  Only 0.0128% gain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89320" y="3374136"/>
            <a:ext cx="2788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989320" y="3374136"/>
            <a:ext cx="6400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26480" y="3410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Zone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26480" y="3666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23  ·  R² drops — noise added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89320" y="4078224"/>
            <a:ext cx="2788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989320" y="4078224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26480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Selected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12648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 ·  R² peak = 0.7791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89320" y="4773168"/>
            <a:ext cx="278892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35040" y="4791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Production tip: 11 features = same R² (0.0128% diff)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 Selection Methods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Correlation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9397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93976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Variance Threshold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98064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3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Chi-Square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02152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02152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Mutual Information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206240"/>
            <a:ext cx="640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VIF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89888"/>
            <a:ext cx="6400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RFECV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09397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093976"/>
            <a:ext cx="6400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Recursive Feature Elimination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2798064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798064"/>
            <a:ext cx="64008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843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Sequential Feature Selection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1389888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389888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Lasso Regularization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2093976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093976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Random Forest Importance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use k = 17  (determined by RFECV)  ·  No guessing  ·  Scientifically validated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Methods — Key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50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Correlation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linear relationship with exam_score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950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study_hours (r=0.762), class_attendance (r=0.36), sleep_quality_good, sleep_hours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3167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study_hours has strongest linear signal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78040" y="1078992"/>
            <a:ext cx="1508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09728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3736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Variance Threshold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0665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near-zero variance features (threshold=0.01)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773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22/23 features retained — most have sufficient variability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1396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Dataset is diverse; no near-constant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8040" y="1901952"/>
            <a:ext cx="1508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 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6032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Chi-Square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dependency of categorical features on target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25968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study_hours, class_attendance, sleep_hours, sleep_quality, study_method, facility_rating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9626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Confirms study &amp; sleep habits dominate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78040" y="2724912"/>
            <a:ext cx="1508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74320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8328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Mutual Information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information each feature provides about exam_score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3419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study_hours, class_attendance, sleep_hours, sleep_quality_good, sleep_quality_poor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37856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Consistent with correlation — linear relationships hold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3547872"/>
            <a:ext cx="1508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 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206240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VIF (Multicollinearity)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4535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highly correlated features (VIF &gt; 5 flagged)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51760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17 features with acceptable VIF retained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51760" y="46085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age, class_attendance, sleep_hours show high VIF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4370832"/>
            <a:ext cx="1508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438912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 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&amp; Embedded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26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RFE (n=17)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removes weakest features based on model coefficients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study_hours, class_attendance, sleep_hours, sleep_quality, study_method, facility_rating + 11 more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Model-based ranking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542032"/>
            <a:ext cx="164592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 n required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SFS (n=17)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features step-by-step, evaluating combinations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study_hours, class_attendance, sleep_hours, sleep_quality, study_method, facility_rating + 11 more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1645920" cy="237744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33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Evaluates combinations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4233672"/>
            <a:ext cx="1645920" cy="23774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4233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Very slow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96112"/>
            <a:ext cx="41148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53312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426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Lasso (α=0.1)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weak feature coefficients to zero automatically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048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study_method_self-study, facility_rating_low, study_method_online videos, study_hours, study_method_group study, sleep_quality_poor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542032"/>
            <a:ext cx="3840480" cy="237744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Highlighted study_method family — unique finding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044952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Random Forest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via impurity reduction across 100 decision trees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study_hours (#1), class_attendance (#2), sleep_hours (#3)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233672"/>
            <a:ext cx="3840480" cy="237744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2336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Captures non-linear interactions — most reliable embedded method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Consistency Across All 9 Methods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00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14400"/>
            <a:ext cx="64008" cy="6949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75320" y="1078992"/>
            <a:ext cx="457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0972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950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7568" y="12435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EVERY method — undisputed #1 predictor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719072"/>
            <a:ext cx="3200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19072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75320" y="1883664"/>
            <a:ext cx="457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1901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87568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class_attendance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87568" y="20482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predictor — attendance drives performance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7840" y="2523744"/>
            <a:ext cx="3200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523744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2688336"/>
            <a:ext cx="457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2706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87568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87568" y="28529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matters — supports well-being research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77840" y="3328416"/>
            <a:ext cx="3200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77840" y="3328416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75320" y="3493008"/>
            <a:ext cx="457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35112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87568" y="3364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sleep_quality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87568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matters as much as quantity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4133088"/>
            <a:ext cx="3200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77840" y="4133088"/>
            <a:ext cx="6400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75320" y="4297680"/>
            <a:ext cx="457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75320" y="43159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87568" y="41696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facility_rating_low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87568" y="44622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environment has moderate impact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77840" y="4937760"/>
            <a:ext cx="32004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Feature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286000"/>
                <a:gridCol w="182880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Baseline (23 features)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Final (17 features)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Features Used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↓ 26% fewer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Test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0.7780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0.7781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Same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Train R²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0.7782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0.7782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Same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Test RMSE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~8.5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~8.5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Same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Overfitting?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Clean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Model Complexity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Simpler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34340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43708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71600" y="4462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434340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43708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206240" y="4462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Features Removed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434340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43708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462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Reduced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study_hours is 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ALL 9 methods. Strongest predictor of exam performance with r=0.762.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RFECV = Best Method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17 features optimal via 5-fold CV. Automated — no guessing, no bias.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6 Features Were Pure Noise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caused ZERO performance loss. Same R²=0.778 with 26% less complexity.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13432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Production Ready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7706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 achieve same R² (0.0128% diff). Reduces data collection cost in deployment.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66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No Overfitting Throughout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0325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≈ Test R² in all models. Generalizes well to unseen student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575304"/>
            <a:ext cx="4160520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666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Comprehensive Validation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0325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methods × 3 categories × RFECV confirmation = robust, reproducible conclusion.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is not just about removing features — it is about understanding your data.  |  Komal Kakkar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Selection Analysis — Student Exam Performance</dc:title>
  <dc:subject>PptxGenJS Presentation</dc:subject>
  <dc:creator>PptxGenJS</dc:creator>
  <cp:lastModifiedBy>PptxGenJS</cp:lastModifiedBy>
  <cp:revision>1</cp:revision>
  <dcterms:created xsi:type="dcterms:W3CDTF">2026-05-29T10:04:47Z</dcterms:created>
  <dcterms:modified xsi:type="dcterms:W3CDTF">2026-05-29T10:04:47Z</dcterms:modified>
</cp:coreProperties>
</file>